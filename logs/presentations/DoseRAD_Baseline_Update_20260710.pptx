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1695" cy="6858000" type="wide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  <Relationship Id="rId7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2800" b="1">
                <a:solidFill>
                  <a:srgbClr val="0F172A"/>
                </a:solidFill>
              </a:rPr>
              <a:t>DoseRAD2026 Photon Task 1: Baseline Update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30352" y="8686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200">
                <a:solidFill>
                  <a:srgbClr val="64748B"/>
                </a:solidFill>
              </a:rPr>
              <a:t>Local project status for collaborator discussion | July 10, 2026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inset="91440" anchor="mid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31520" y="178308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2600" b="1">
                <a:solidFill>
                  <a:srgbClr val="111827"/>
                </a:solidFill>
              </a:rPr>
              <a:t>Goal: predict per-beam/control-point 3D dose from CT and beam geometry.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2743200"/>
            <a:ext cx="2834640" cy="914400"/>
          </a:xfrm>
          <a:prstGeom prst="rect">
            <a:avLst/>
          </a:prstGeom>
          <a:solidFill>
            <a:srgbClr val="DBEAFE"/>
          </a:solidFill>
          <a:ln>
            <a:solidFill>
              <a:srgbClr val="60A5FA"/>
            </a:solidFill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11827"/>
                </a:solidFill>
              </a:rPr>
              <a:t>Input</a:t>
            </a:r>
          </a:p>
          <a:p>
            <a:r>
              <a:rPr lang="en-US" sz="1800">
                <a:solidFill>
                  <a:srgbClr val="111827"/>
                </a:solidFill>
              </a:rPr>
              <a:t>CT + Bx/CPy parameters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63440" y="2743200"/>
            <a:ext cx="2834640" cy="914400"/>
          </a:xfrm>
          <a:prstGeom prst="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11827"/>
                </a:solidFill>
              </a:rPr>
              <a:t>Model</a:t>
            </a:r>
          </a:p>
          <a:p>
            <a:r>
              <a:rPr lang="en-US" sz="1800">
                <a:solidFill>
                  <a:srgbClr val="111827"/>
                </a:solidFill>
              </a:rPr>
              <a:t>Geometry-conditioned 3D U-Net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2480" y="2743200"/>
            <a:ext cx="2834640" cy="91440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11827"/>
                </a:solidFill>
              </a:rPr>
              <a:t>Output</a:t>
            </a:r>
          </a:p>
          <a:p>
            <a:r>
              <a:rPr lang="en-US" sz="1800">
                <a:solidFill>
                  <a:srgbClr val="111827"/>
                </a:solidFill>
              </a:rPr>
              <a:t>Dose_Bx_CPy.mha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" y="4160520"/>
            <a:ext cx="10424160" cy="10972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inset="91440" anchor="mid"/>
          <a:lstStyle/>
          <a:p>
            <a:r>
              <a:rPr lang="en-US" sz="2000">
                <a:solidFill>
                  <a:srgbClr val="334155"/>
                </a:solidFill>
              </a:rPr>
              <a:t>Current status: baseline pipeline is complete and has produced first local validation results. Performance is still weak; the next phase is model improvement.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2800" b="1">
                <a:solidFill>
                  <a:srgbClr val="0F172A"/>
                </a:solidFill>
              </a:rPr>
              <a:t>Data And Preprocessing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30352" y="8686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200">
                <a:solidFill>
                  <a:srgbClr val="64748B"/>
                </a:solidFill>
              </a:rPr>
              <a:t>What is already prepared locally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inset="91440" anchor="mid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731520" y="160020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F2937"/>
                </a:solidFill>
              </a:rPr>
              <a:t>• Photon training dataset is downloaded locally.</a:t>
            </a:r>
          </a:p>
          <a:p>
            <a:r>
              <a:rPr lang="en-US" sz="1800">
                <a:solidFill>
                  <a:srgbClr val="1F2937"/>
                </a:solidFill>
              </a:rPr>
              <a:t>• Case-level split is complete: 60 train cases / 15 validation cases.</a:t>
            </a:r>
          </a:p>
          <a:p>
            <a:r>
              <a:rPr lang="en-US" sz="1800">
                <a:solidFill>
                  <a:srgbClr val="1F2937"/>
                </a:solidFill>
              </a:rPr>
              <a:t>• Preprocessing supports CT HU normalization.</a:t>
            </a:r>
          </a:p>
          <a:p>
            <a:r>
              <a:rPr lang="en-US" sz="1800">
                <a:solidFill>
                  <a:srgbClr val="1F2937"/>
                </a:solidFill>
              </a:rPr>
              <a:t>• Optional HU-to-density conversion is implemented.</a:t>
            </a:r>
          </a:p>
          <a:p>
            <a:r>
              <a:rPr lang="en-US" sz="1800">
                <a:solidFill>
                  <a:srgbClr val="1F2937"/>
                </a:solidFill>
              </a:rPr>
              <a:t>• Dose masks and dose statistics are available for support-region evaluation.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00800" y="1600200"/>
            <a:ext cx="4389120" cy="685800"/>
          </a:xfrm>
          <a:prstGeom prst="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txBody>
          <a:bodyPr wrap="square" inset="91440" anchor="mid"/>
          <a:lstStyle/>
          <a:p>
            <a:r>
              <a:rPr lang="en-US" sz="2000">
                <a:solidFill>
                  <a:srgbClr val="111827"/>
                </a:solidFill>
              </a:rPr>
              <a:t>Data split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0800" y="2514600"/>
            <a:ext cx="4389120" cy="685800"/>
          </a:xfrm>
          <a:prstGeom prst="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txBody>
          <a:bodyPr wrap="square" inset="91440" anchor="mid"/>
          <a:lstStyle/>
          <a:p>
            <a:r>
              <a:rPr lang="en-US" sz="2000">
                <a:solidFill>
                  <a:srgbClr val="111827"/>
                </a:solidFill>
              </a:rPr>
              <a:t>CT / density preprocessing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00800" y="3429000"/>
            <a:ext cx="4389120" cy="685800"/>
          </a:xfrm>
          <a:prstGeom prst="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txBody>
          <a:bodyPr wrap="square" inset="91440" anchor="mid"/>
          <a:lstStyle/>
          <a:p>
            <a:r>
              <a:rPr lang="en-US" sz="2000">
                <a:solidFill>
                  <a:srgbClr val="111827"/>
                </a:solidFill>
              </a:rPr>
              <a:t>64 x 64 x 64 training crop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00800" y="4343400"/>
            <a:ext cx="4389120" cy="685800"/>
          </a:xfrm>
          <a:prstGeom prst="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txBody>
          <a:bodyPr wrap="square" inset="91440" anchor="mid"/>
          <a:lstStyle/>
          <a:p>
            <a:r>
              <a:rPr lang="en-US" sz="2000">
                <a:solidFill>
                  <a:srgbClr val="111827"/>
                </a:solidFill>
              </a:rPr>
              <a:t>Dose and mask loading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00800" y="534924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500">
                <a:solidFill>
                  <a:srgbClr val="475569"/>
                </a:solidFill>
              </a:rPr>
              <a:t>Split file: splits/photon_case_split.csv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2800" b="1">
                <a:solidFill>
                  <a:srgbClr val="0F172A"/>
                </a:solidFill>
              </a:rPr>
              <a:t>Baseline Model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30352" y="8686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200">
                <a:solidFill>
                  <a:srgbClr val="64748B"/>
                </a:solidFill>
              </a:rPr>
              <a:t>Geometry-conditioned 3D U-Net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inset="91440" anchor="mid"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822960" y="1554480"/>
            <a:ext cx="2743200" cy="822960"/>
          </a:xfrm>
          <a:prstGeom prst="rect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11827"/>
                </a:solidFill>
              </a:rPr>
              <a:t>CT volume</a:t>
            </a:r>
          </a:p>
          <a:p>
            <a:r>
              <a:rPr lang="en-US" sz="1800">
                <a:solidFill>
                  <a:srgbClr val="111827"/>
                </a:solidFill>
              </a:rPr>
              <a:t>1-channel 3D image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2960" y="2743200"/>
            <a:ext cx="2743200" cy="1097280"/>
          </a:xfrm>
          <a:prstGeom prst="rect">
            <a:avLst/>
          </a:prstGeom>
          <a:solidFill>
            <a:srgbClr val="EDE9FE"/>
          </a:solidFill>
          <a:ln>
            <a:solidFill>
              <a:srgbClr val="8B5CF6"/>
            </a:solidFill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11827"/>
                </a:solidFill>
              </a:rPr>
              <a:t>Condition vector</a:t>
            </a:r>
          </a:p>
          <a:p>
            <a:r>
              <a:rPr lang="en-US" sz="1800">
                <a:solidFill>
                  <a:srgbClr val="111827"/>
                </a:solidFill>
              </a:rPr>
              <a:t>beam, CP, gantry,</a:t>
            </a:r>
          </a:p>
          <a:p>
            <a:r>
              <a:rPr lang="en-US" sz="1800">
                <a:solidFill>
                  <a:srgbClr val="111827"/>
                </a:solidFill>
              </a:rPr>
              <a:t>isocenter, MLC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80560" y="2057400"/>
            <a:ext cx="3200400" cy="1188720"/>
          </a:xfrm>
          <a:prstGeom prst="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txBody>
          <a:bodyPr wrap="square" inset="91440" anchor="mid"/>
          <a:lstStyle/>
          <a:p>
            <a:r>
              <a:rPr lang="en-US" sz="2200">
                <a:solidFill>
                  <a:srgbClr val="111827"/>
                </a:solidFill>
              </a:rPr>
              <a:t>FiLM-conditioned</a:t>
            </a:r>
          </a:p>
          <a:p>
            <a:r>
              <a:rPr lang="en-US" sz="2200">
                <a:solidFill>
                  <a:srgbClr val="111827"/>
                </a:solidFill>
              </a:rPr>
              <a:t>3D U-Net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95360" y="2057400"/>
            <a:ext cx="2743200" cy="118872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txBody>
          <a:bodyPr wrap="square" inset="91440" anchor="mid"/>
          <a:lstStyle/>
          <a:p>
            <a:r>
              <a:rPr lang="en-US" sz="2000">
                <a:solidFill>
                  <a:srgbClr val="111827"/>
                </a:solidFill>
              </a:rPr>
              <a:t>Predicted dose</a:t>
            </a:r>
          </a:p>
          <a:p>
            <a:r>
              <a:rPr lang="en-US" sz="2000">
                <a:solidFill>
                  <a:srgbClr val="111827"/>
                </a:solidFill>
              </a:rPr>
              <a:t>Dose_Bx_CPy.mha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4400" y="452628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700">
                <a:solidFill>
                  <a:srgbClr val="1F2937"/>
                </a:solidFill>
              </a:rPr>
              <a:t>• Energy spectrum is optional for ablation, but current main baseline is no-energy.</a:t>
            </a:r>
          </a:p>
          <a:p>
            <a:r>
              <a:rPr lang="en-US" sz="1700">
                <a:solidFill>
                  <a:srgbClr val="1F2937"/>
                </a:solidFill>
              </a:rPr>
              <a:t>• Model output was changed from ReLU to linear; exported dose is clamped to non-negative.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2800" b="1">
                <a:solidFill>
                  <a:srgbClr val="0F172A"/>
                </a:solidFill>
              </a:rPr>
              <a:t>Current Baseline Experiment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30352" y="8686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200">
                <a:solidFill>
                  <a:srgbClr val="64748B"/>
                </a:solidFill>
              </a:rPr>
              <a:t>First reportable local run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inset="91440" anchor="mid"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731520" y="1508760"/>
            <a:ext cx="3566160" cy="59436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11827"/>
                </a:solidFill>
              </a:rPr>
              <a:t>Experiment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4400" y="224028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F2937"/>
                </a:solidFill>
              </a:rPr>
              <a:t>Name: baseline_hu_no_energy_v2_linear</a:t>
            </a:r>
          </a:p>
          <a:p>
            <a:r>
              <a:rPr lang="en-US" sz="1800">
                <a:solidFill>
                  <a:srgbClr val="1F2937"/>
                </a:solidFill>
              </a:rPr>
              <a:t>Input: CT HU, no energy spectrum</a:t>
            </a:r>
          </a:p>
          <a:p>
            <a:r>
              <a:rPr lang="en-US" sz="1800">
                <a:solidFill>
                  <a:srgbClr val="1F2937"/>
                </a:solidFill>
              </a:rPr>
              <a:t>Crop: 64 x 64 x 64</a:t>
            </a:r>
          </a:p>
          <a:p>
            <a:r>
              <a:rPr lang="en-US" sz="1800">
                <a:solidFill>
                  <a:srgbClr val="1F2937"/>
                </a:solidFill>
              </a:rPr>
              <a:t>Train samples: 1000</a:t>
            </a:r>
          </a:p>
          <a:p>
            <a:r>
              <a:rPr lang="en-US" sz="1800">
                <a:solidFill>
                  <a:srgbClr val="1F2937"/>
                </a:solidFill>
              </a:rPr>
              <a:t>Validation samples: 128</a:t>
            </a:r>
          </a:p>
          <a:p>
            <a:r>
              <a:rPr lang="en-US" sz="1800">
                <a:solidFill>
                  <a:srgbClr val="1F2937"/>
                </a:solidFill>
              </a:rPr>
              <a:t>Epochs: 5</a:t>
            </a:r>
          </a:p>
          <a:p>
            <a:r>
              <a:rPr lang="en-US" sz="1800">
                <a:solidFill>
                  <a:srgbClr val="1F2937"/>
                </a:solidFill>
              </a:rPr>
              <a:t>Exported predictions: 64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00800" y="1508760"/>
            <a:ext cx="4389120" cy="59436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11827"/>
                </a:solidFill>
              </a:rPr>
              <a:t>Generated artifacts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00800" y="2240280"/>
            <a:ext cx="4754880" cy="310896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F2937"/>
                </a:solidFill>
              </a:rPr>
              <a:t>• best.pt checkpoint</a:t>
            </a:r>
          </a:p>
          <a:p>
            <a:r>
              <a:rPr lang="en-US" sz="1800">
                <a:solidFill>
                  <a:srgbClr val="1F2937"/>
                </a:solidFill>
              </a:rPr>
              <a:t>• Dose_Bx_CPy.mha predictions</a:t>
            </a:r>
          </a:p>
          <a:p>
            <a:r>
              <a:rPr lang="en-US" sz="1800">
                <a:solidFill>
                  <a:srgbClr val="1F2937"/>
                </a:solidFill>
              </a:rPr>
              <a:t>• prediction_manifest.csv</a:t>
            </a:r>
          </a:p>
          <a:p>
            <a:r>
              <a:rPr lang="en-US" sz="1800">
                <a:solidFill>
                  <a:srgbClr val="1F2937"/>
                </a:solidFill>
              </a:rPr>
              <a:t>• per-sample metrics CSV</a:t>
            </a:r>
          </a:p>
          <a:p>
            <a:r>
              <a:rPr lang="en-US" sz="1800">
                <a:solidFill>
                  <a:srgbClr val="1F2937"/>
                </a:solidFill>
              </a:rPr>
              <a:t>• summary metrics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2800" b="1">
                <a:solidFill>
                  <a:srgbClr val="0F172A"/>
                </a:solidFill>
              </a:rPr>
              <a:t>Performance Summary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30352" y="8686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200">
                <a:solidFill>
                  <a:srgbClr val="64748B"/>
                </a:solidFill>
              </a:rPr>
              <a:t>Full-volume exported validation predictions, n = 64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inset="91440" anchor="mid"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731520" y="1508760"/>
            <a:ext cx="3291840" cy="73152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txBody>
          <a:bodyPr wrap="square" inset="91440" anchor="mid"/>
          <a:lstStyle/>
          <a:p>
            <a:r>
              <a:rPr lang="en-US" sz="2000">
                <a:solidFill>
                  <a:srgbClr val="111827"/>
                </a:solidFill>
              </a:rPr>
              <a:t>masked relative MAE</a:t>
            </a:r>
          </a:p>
          <a:p>
            <a:r>
              <a:rPr lang="en-US" sz="2000">
                <a:solidFill>
                  <a:srgbClr val="111827"/>
                </a:solidFill>
              </a:rPr>
              <a:t>13.12%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34840" y="1508760"/>
            <a:ext cx="3291840" cy="73152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txBody>
          <a:bodyPr wrap="square" inset="91440" anchor="mid"/>
          <a:lstStyle/>
          <a:p>
            <a:r>
              <a:rPr lang="en-US" sz="2000">
                <a:solidFill>
                  <a:srgbClr val="111827"/>
                </a:solidFill>
              </a:rPr>
              <a:t>gamma 3%/3mm</a:t>
            </a:r>
          </a:p>
          <a:p>
            <a:r>
              <a:rPr lang="en-US" sz="2000">
                <a:solidFill>
                  <a:srgbClr val="111827"/>
                </a:solidFill>
              </a:rPr>
              <a:t>~0.0000007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138160" y="1508760"/>
            <a:ext cx="3291840" cy="731520"/>
          </a:xfrm>
          <a:prstGeom prst="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txBody>
          <a:bodyPr wrap="square" inset="91440" anchor="mid"/>
          <a:lstStyle/>
          <a:p>
            <a:r>
              <a:rPr lang="en-US" sz="2000">
                <a:solidFill>
                  <a:srgbClr val="111827"/>
                </a:solidFill>
              </a:rPr>
              <a:t>prediction time</a:t>
            </a:r>
          </a:p>
          <a:p>
            <a:r>
              <a:rPr lang="en-US" sz="2000">
                <a:solidFill>
                  <a:srgbClr val="111827"/>
                </a:solidFill>
              </a:rPr>
              <a:t>0.112 s/sample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2960" y="2834640"/>
            <a:ext cx="10698480" cy="21031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F2937"/>
                </a:solidFill>
              </a:rPr>
              <a:t>• The pipeline works end-to-end, but model quality is still weak.</a:t>
            </a:r>
          </a:p>
          <a:p>
            <a:r>
              <a:rPr lang="en-US" sz="1800">
                <a:solidFill>
                  <a:srgbClr val="1F2937"/>
                </a:solidFill>
              </a:rPr>
              <a:t>• Gamma pass rate is essentially zero, so spatial dose agreement is not clinically useful yet.</a:t>
            </a:r>
          </a:p>
          <a:p>
            <a:r>
              <a:rPr lang="en-US" sz="1800">
                <a:solidFill>
                  <a:srgbClr val="1F2937"/>
                </a:solidFill>
              </a:rPr>
              <a:t>• The model still underfits and tends to predict low-amplitude dose.</a:t>
            </a:r>
          </a:p>
          <a:p>
            <a:r>
              <a:rPr lang="en-US" sz="1800">
                <a:solidFill>
                  <a:srgbClr val="1F2937"/>
                </a:solidFill>
              </a:rPr>
              <a:t>• Full-image MAE is misleading because most voxels are near zero; masked/high-dose metrics matter more.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2960" y="539496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400">
                <a:solidFill>
                  <a:srgbClr val="475569"/>
                </a:solidFill>
              </a:rPr>
              <a:t>Key file: outputs/baseline_hu_no_energy_v2_linear/evaluate_exported/exported_prediction_summary.csv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2800" b="1">
                <a:solidFill>
                  <a:srgbClr val="0F172A"/>
                </a:solidFill>
              </a:rPr>
              <a:t>Next Steps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30352" y="8686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200">
                <a:solidFill>
                  <a:srgbClr val="64748B"/>
                </a:solidFill>
              </a:rPr>
              <a:t>Recommended discussion points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inset="91440" anchor="mid"/>
          <a:lstStyle/>
          <a:p/>
        </p:txBody>
      </p:sp>
      <p:sp>
        <p:nvSpPr>
          <p:cNvPr id="60" name="TextBox 60"/>
          <p:cNvSpPr txBox="1"/>
          <p:nvPr/>
        </p:nvSpPr>
        <p:spPr>
          <a:xfrm>
            <a:off x="822960" y="1508760"/>
            <a:ext cx="5212080" cy="438912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1F2937"/>
                </a:solidFill>
              </a:rPr>
              <a:t>• Increase mask_weight to emphasize the dose-support region.</a:t>
            </a:r>
          </a:p>
          <a:p>
            <a:r>
              <a:rPr lang="en-US" sz="1800">
                <a:solidFill>
                  <a:srgbClr val="1F2937"/>
                </a:solidFill>
              </a:rPr>
              <a:t>• Add a beam geometry mask/channel as an explicit spatial prior.</a:t>
            </a:r>
          </a:p>
          <a:p>
            <a:r>
              <a:rPr lang="en-US" sz="1800">
                <a:solidFill>
                  <a:srgbClr val="1F2937"/>
                </a:solidFill>
              </a:rPr>
              <a:t>• Compare HU vs HU-to-density input.</a:t>
            </a:r>
          </a:p>
          <a:p>
            <a:r>
              <a:rPr lang="en-US" sz="1800">
                <a:solidFill>
                  <a:srgbClr val="1F2937"/>
                </a:solidFill>
              </a:rPr>
              <a:t>• Compare no-energy vs with-energy conditioning.</a:t>
            </a:r>
          </a:p>
          <a:p>
            <a:r>
              <a:rPr lang="en-US" sz="1800">
                <a:solidFill>
                  <a:srgbClr val="1F2937"/>
                </a:solidFill>
              </a:rPr>
              <a:t>• Try sliding full-volume inference instead of crop insertion.</a:t>
            </a:r>
          </a:p>
          <a:p>
            <a:r>
              <a:rPr lang="en-US" sz="1800">
                <a:solidFill>
                  <a:srgbClr val="1F2937"/>
                </a:solidFill>
              </a:rPr>
              <a:t>• Train longer with more samples after the above changes.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583680" y="1645920"/>
            <a:ext cx="4389120" cy="731520"/>
          </a:xfrm>
          <a:prstGeom prst="rect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txBody>
          <a:bodyPr wrap="square" inset="91440" anchor="mid"/>
          <a:lstStyle/>
          <a:p>
            <a:r>
              <a:rPr lang="en-US" sz="2000">
                <a:solidFill>
                  <a:srgbClr val="111827"/>
                </a:solidFill>
              </a:rPr>
              <a:t>Immediate priority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720840" y="2606040"/>
            <a:ext cx="4114800" cy="1143000"/>
          </a:xfrm>
          <a:prstGeom prst="rect">
            <a:avLst/>
          </a:prstGeom>
          <a:noFill/>
          <a:ln>
            <a:noFill/>
          </a:ln>
        </p:spPr>
        <p:txBody>
          <a:bodyPr wrap="square" inset="91440" anchor="mid"/>
          <a:lstStyle/>
          <a:p>
            <a:r>
              <a:rPr lang="en-US" sz="2200" b="1">
                <a:solidFill>
                  <a:srgbClr val="111827"/>
                </a:solidFill>
              </a:rPr>
              <a:t>Improve dose-support learning before scaling up expensive training.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720840" y="3977639"/>
            <a:ext cx="411480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inset="91440" anchor="mid"/>
          <a:lstStyle/>
          <a:p>
            <a:r>
              <a:rPr lang="en-US" sz="1800">
                <a:solidFill>
                  <a:srgbClr val="334155"/>
                </a:solidFill>
              </a:rPr>
              <a:t>Success signal: gamma pass rate and masked relative MAE improve, not only full-volume MAE.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seRAD">
  <a:themeElements>
    <a:clrScheme name="DoseRAD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22C55E"/>
      </a:accent2>
      <a:accent3>
        <a:srgbClr val="F59E0B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7C3AED"/>
      </a:folHlink>
    </a:clrScheme>
    <a:fontScheme name="DoseRAD">
      <a:majorFont>
        <a:latin typeface="Aptos Display"/>
      </a:majorFont>
      <a:minorFont>
        <a:latin typeface="Aptos"/>
      </a:minorFont>
    </a:fontScheme>
    <a:fmtScheme name="DoseRAD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